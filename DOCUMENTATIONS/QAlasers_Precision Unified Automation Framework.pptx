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8AD41-03FD-4E05-B8AE-00EF33BEE69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3C4D0-970E-47E5-8088-969018223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3C4D0-970E-47E5-8088-96901822371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8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5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6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2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0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8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4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4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23E9-018F-067A-D204-24140172B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2057399"/>
            <a:ext cx="10782300" cy="2065867"/>
          </a:xfrm>
        </p:spPr>
        <p:txBody>
          <a:bodyPr/>
          <a:lstStyle/>
          <a:p>
            <a:r>
              <a:rPr lang="en-US" sz="6000" b="1" dirty="0" err="1"/>
              <a:t>QAlasers_Precision</a:t>
            </a:r>
            <a:r>
              <a:rPr lang="en-US" sz="6000" b="1" dirty="0"/>
              <a:t> Unified Automation Framework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9062B-3EE0-E9F2-5D67-27DB0F5B8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+ </a:t>
            </a: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(Hybrid)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Selenium · Rest Assured · Cucumber · TestNG · Maven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Under Test: automationexercise.com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Submitted To: Veeva Systems</a:t>
            </a:r>
          </a:p>
          <a:p>
            <a:endParaRPr lang="en-US" sz="3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6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216B-BB3D-A9ED-A89B-0BA4D08E6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B4BD-5B45-C2E1-4098-956B42292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 Unified Automation Framework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Hybrid Test Automation Framework developed for automating both UI Testing and API Testing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AutomationExercise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https://automationexercise.com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a Maven multi-module architecture with separate modules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Common utilities to ensure maintainability, scalability, and reusability.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uses BDD (Behavior Driven Development) with Cucumber and TestNG, allowing test scenarios to be written in simple Gherkin language understandable by both technical and non-technical stakeholders. It integrates Selenium WebDriver for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UI testing along with Page Object Model (POM)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RestAssured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API validation with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API Design (Client → Request Builder → Validator) for clean and structured automation. </a:t>
            </a:r>
          </a:p>
        </p:txBody>
      </p:sp>
    </p:spTree>
    <p:extLst>
      <p:ext uri="{BB962C8B-B14F-4D97-AF65-F5344CB8AC3E}">
        <p14:creationId xmlns:p14="http://schemas.microsoft.com/office/powerpoint/2010/main" val="322864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DA52-4D50-0954-1F21-86CA3015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89141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E975-5C4D-1398-9449-9C1D69A0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075"/>
            <a:ext cx="10515600" cy="4847002"/>
          </a:xfrm>
        </p:spPr>
        <p:txBody>
          <a:bodyPr>
            <a:normAutofit fontScale="47500" lnSpcReduction="20000"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Build a Precision Unified Automation Framework for UI + API testing of automationexercise.com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Under Test</a:t>
            </a: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AutomationExercise.com (Web Application)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Scope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Hybrid testing: UI + API integration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UI: End-to-end journeys, cross-browser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API: RESTful (GET, POST, PUT, DELETE), schema &amp; negative testing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 Architecture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Maven multi-module (UIAutomation, APIAutomation, Common)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Externalized config &amp; test data (no hardcoding)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Layered API design: Client → Request Builder → Validator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Scalable, maintainable, reusable components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UI: Selenium WebDriver + Cucumber + TestNG + POM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API: RestAssured + Cucumber + TestNG + JSON Schema Validation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Build: Maven with parallel execution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98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1CD8F-0411-EFAC-83BA-4EE3F0C81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807" y="1479926"/>
            <a:ext cx="932226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 &amp; Strategies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Wait strategies: explicit, fluent, custom utilities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Factory pattern: driver &amp; test data factories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Builder pattern: API request builders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Thread safety: TestContext for parallel runs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Robust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Execution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ExtentReports + Allure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Log4j2 logging, screenshots for UI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3-thread parallel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UI: Excel-driven test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API: POJOs + Data Factories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Shared: Externalized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8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B2D4-0BCF-22F3-3795-4EE0F45A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57FA-1ACF-8134-7F87-92742BEEB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this project are: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Hybrid Automation Project (UI+API) within a single unified framework.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multi-module Maven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Object Model (POM)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Layered API design (Client -&gt; Request Builder -&gt; Validator)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Test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Logging and Reporting </a:t>
            </a:r>
          </a:p>
        </p:txBody>
      </p:sp>
    </p:spTree>
    <p:extLst>
      <p:ext uri="{BB962C8B-B14F-4D97-AF65-F5344CB8AC3E}">
        <p14:creationId xmlns:p14="http://schemas.microsoft.com/office/powerpoint/2010/main" val="3075636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6EE1-EB18-7C2E-9831-9F2F4BDE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9B33-FBB7-7876-BD98-913AF0309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includes comprehensive testing of both UI and API functionalities to ensure complete validation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AutomationExercise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Testing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Registration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TC1 – User Registration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Login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TC2 – Valid User Login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TC3 – Invalid User Login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Cart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TC4 – Add Product to Cart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TC5 – Remove Product from Cart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5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7FACA-F2C4-7DFE-9667-B4C71335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5813"/>
            <a:ext cx="10515600" cy="539115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Product APIs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TC1 – Get All Products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TC2 – Search Product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User APIs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TC3 – Create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TC4 – Delete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TC5 – Update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TC6 – Negative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8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FE440A-8A24-7AAF-B07A-7C550986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5" y="251670"/>
            <a:ext cx="11576807" cy="64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0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FFB2-C2EF-6D9D-C8B3-36676B20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220210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9" name="AutoShape 10" descr="Workflow automation diagram in stages">
            <a:extLst>
              <a:ext uri="{FF2B5EF4-FFF2-40B4-BE49-F238E27FC236}">
                <a16:creationId xmlns:a16="http://schemas.microsoft.com/office/drawing/2014/main" id="{00E70286-830A-056F-32EA-164C554D9C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563257" cy="356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F25E0-8BC9-9E6A-5788-1EB50B97A73C}"/>
              </a:ext>
            </a:extLst>
          </p:cNvPr>
          <p:cNvSpPr txBox="1"/>
          <p:nvPr/>
        </p:nvSpPr>
        <p:spPr>
          <a:xfrm>
            <a:off x="813732" y="1719743"/>
            <a:ext cx="1114058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Overall Framework Execution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Parent POM → UI Module → API Module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UI Automation Workflow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TestRunner → Hooks → Feature Files → Step Definitions (3 threads parallel) → ExcelUtils → Page Objects → Browser Actions → ExtentReports + Logs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 Automation Workflow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ApiTestRunner → Hooks → Feature Files → Step Definitions (3 threads parallel) → TestContext → Data Layer → API Layers → Schema Validation → Allure Reports + Logs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Shared Dependencies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Common Module → ConfigReader, DriverFactory , WaitUtils , Logger,  FrameworkConstants, config file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2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7C6A-6A71-8F03-BDCC-DFAC5546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11" y="176168"/>
            <a:ext cx="10772775" cy="360727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Directory Structure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50A40-6426-0E9F-EA2E-9578D2CC8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629"/>
            <a:ext cx="12192000" cy="627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5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BA97-1BAE-ABBB-7D9D-D96B018E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222" y="199575"/>
            <a:ext cx="10772775" cy="110276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1694D-B5D1-BAD8-926B-727C021BE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r="3172"/>
          <a:stretch>
            <a:fillRect/>
          </a:stretch>
        </p:blipFill>
        <p:spPr>
          <a:xfrm>
            <a:off x="436229" y="1275127"/>
            <a:ext cx="10637240" cy="538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3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8071-7E23-9C88-433F-E3CED1EE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251036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5EB6-C245-0962-9C41-EE0144A7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585520"/>
            <a:ext cx="10753725" cy="43706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Automation Module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GET, POST, PUT, and DELETE requests for API endpoints.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RequestBuilder.java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Builds headers, parameters, authentication, and request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body.</a:t>
            </a:r>
          </a:p>
          <a:p>
            <a:pPr lvl="1"/>
            <a:r>
              <a:rPr lang="en-GB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TestContext.java</a:t>
            </a:r>
            <a:r>
              <a:rPr lang="en-GB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Thread-safe test data sharing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UserDataFactory.java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dynamic test data like username, email, and password.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POJO class used for JSON request and response mapping.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ApiTestRunner.java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API test cases using Cucumber and TestNG.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stepdefinitions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Maps API feature steps to Java implementation.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ResponseValidator.java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status code, response body, and JSON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schema.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TestHooks.java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– Handles cucumber lifecycle management.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ApiTestListener.java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2700">
                <a:latin typeface="Times New Roman" panose="02020603050405020304" pitchFamily="18" charset="0"/>
                <a:cs typeface="Times New Roman" panose="02020603050405020304" pitchFamily="18" charset="0"/>
              </a:rPr>
              <a:t>TestNG execution monitoring with enhanced failure reporting, stack traces etc.,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AllureUtil.java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API request/response attachment to Allure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LoggerUtil.java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Structured logging framework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ScenarioContext.java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ThreadLocal scenario data management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eatures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API feature files written in Gherkin format.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chemas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Contains JSON schema validation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log4j2.xml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– Logging configuration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testng-api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.xml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API test suites separately.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56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70A3-8B54-4671-7850-4C04AE9C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612"/>
            <a:ext cx="10515600" cy="59578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Automation Module</a:t>
            </a:r>
          </a:p>
          <a:p>
            <a:pPr lvl="1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PageObjects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page classes with locators and reusable actions.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browser launch, close, and screenshot capture on failure.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TestRunner.java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UI test cases using Cucumber and TestNG.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1500">
                <a:latin typeface="Times New Roman" panose="02020603050405020304" pitchFamily="18" charset="0"/>
                <a:cs typeface="Times New Roman" panose="02020603050405020304" pitchFamily="18" charset="0"/>
              </a:rPr>
              <a:t>Configures ExtentReports with SparkReporter, generates timestamped reports, and sets system info.</a:t>
            </a:r>
          </a:p>
          <a:p>
            <a:pPr lvl="1"/>
            <a:r>
              <a:rPr lang="en-GB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ExtentTestManager.java </a:t>
            </a:r>
            <a:r>
              <a:rPr lang="en-GB" sz="1500">
                <a:latin typeface="Times New Roman" panose="02020603050405020304" pitchFamily="18" charset="0"/>
                <a:cs typeface="Times New Roman" panose="02020603050405020304" pitchFamily="18" charset="0"/>
              </a:rPr>
              <a:t>- Manages thread‑safe ExtentTest instances with lifecycle methods, enabling parallel execution.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stepdefinitions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Maps UI feature steps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to Java test method implementations.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ExcelUtils.java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Reads test data from Excel files for Data-Driven Testing.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UI test scenarios written in Gherkin format.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testng-ui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UI test suites separately.</a:t>
            </a:r>
          </a:p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3) Common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ConfigReader.java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Reads values from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file.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DriverFactory.java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Initializes browser drivers for execution.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ThreadLocal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WebDriver for parallel execution.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execution logs for debugging.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WaitUtils.java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explicit waits and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config.properties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both UI and API tests configurations.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Files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Parent Maven file used for dependency management.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both UI and API tests together.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project setup and execution instructions.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8979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87C2-6074-8C26-4C35-28B35010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13E4-5B38-62CD-915B-31847785C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020004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to remove previous build files.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to download dependencies, compile the code, and build the project.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to execute all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(UI+API) or Right-click pom.xml and select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As → Maven test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execute both UI and API tests.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cd APIAutomation and Run mvn allure:serve to generate and view the Allure Report in live on Browser.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execution, the framework automatically generates Extent Reports, Allure Reports, TestNG Reports, Cucumber Reports, screenshots for failed UI tests, and execution logs for debugging and validation.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TestRunner.java or testng-ui.xml and select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As →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 Suite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UI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only.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ApiTestRunner.java or testng-api.xml and select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As →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 Suite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API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only.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051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31B3-C5FB-F72B-128E-17890F06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9DB8-70BD-D22D-2910-72357243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test execution, the framework automatically generates reports for both UI and API automation.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total executed tests, pass/fail/skip count, execution time, and suite summary.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Cucumber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feature-wise execution, scenario status, and step-by-step Given–When–Then details.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(UI)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UI execution status, timeline, step logs, and embedded failure screenshots.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: UIAutomation/reports/&lt;ExtentReport&gt;.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(</a:t>
            </a:r>
            <a:r>
              <a:rPr lang="en-US" sz="4200" b="1">
                <a:latin typeface="Times New Roman" panose="02020603050405020304" pitchFamily="18" charset="0"/>
                <a:cs typeface="Times New Roman" panose="02020603050405020304" pitchFamily="18" charset="0"/>
              </a:rPr>
              <a:t>API )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open the interactive Allure report 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using: mvn allure:serve inside APIAutomation module.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step-by-step execution details, pass/fail status, request-response validation, execution timeline, and debugging 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logs.</a:t>
            </a:r>
          </a:p>
          <a:p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Location: APIAutomation/allure-results/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failures automatically capture screenshots, and API failures store request-response logs for quick debugging and issue resolution.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8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EB02CD-C6A7-0E2D-963A-404A733C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5" y="1828801"/>
            <a:ext cx="8632273" cy="4500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CD6BE-1392-B52E-5C2B-4B06CC29AE4D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for UI Automation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789C7-4C75-154B-333F-6EC1CF5BEC6D}"/>
              </a:ext>
            </a:extLst>
          </p:cNvPr>
          <p:cNvSpPr txBox="1"/>
          <p:nvPr/>
        </p:nvSpPr>
        <p:spPr>
          <a:xfrm>
            <a:off x="780176" y="1178653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all tests are passed:</a:t>
            </a:r>
          </a:p>
        </p:txBody>
      </p:sp>
    </p:spTree>
    <p:extLst>
      <p:ext uri="{BB962C8B-B14F-4D97-AF65-F5344CB8AC3E}">
        <p14:creationId xmlns:p14="http://schemas.microsoft.com/office/powerpoint/2010/main" val="209398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270B3-8E35-FBD5-D4E9-B3F8B3BE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7" y="1668364"/>
            <a:ext cx="7980485" cy="4764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63BE26-4829-82B2-DE77-5F31C44D4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929" y="2969703"/>
            <a:ext cx="4737467" cy="33639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B8392B-64BA-5BFA-52CC-24190EDF0CCD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for UI Automation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A1A22-3E78-E5F1-19B9-A1CC66F84C0C}"/>
              </a:ext>
            </a:extLst>
          </p:cNvPr>
          <p:cNvSpPr txBox="1"/>
          <p:nvPr/>
        </p:nvSpPr>
        <p:spPr>
          <a:xfrm>
            <a:off x="780176" y="1124124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test is failed:</a:t>
            </a:r>
          </a:p>
        </p:txBody>
      </p:sp>
    </p:spTree>
    <p:extLst>
      <p:ext uri="{BB962C8B-B14F-4D97-AF65-F5344CB8AC3E}">
        <p14:creationId xmlns:p14="http://schemas.microsoft.com/office/powerpoint/2010/main" val="721665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E2E8C-C779-72F1-E066-DAC3A73FF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7" y="1906285"/>
            <a:ext cx="5117283" cy="3915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D7759-AF70-07D3-F76E-DE544BE45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789" y="1906285"/>
            <a:ext cx="6613320" cy="3915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A15E2-60E9-9097-6F92-6819FDA9F2A4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for API Automation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1F1DD-CDD9-F935-0A87-063F85747E40}"/>
              </a:ext>
            </a:extLst>
          </p:cNvPr>
          <p:cNvSpPr txBox="1"/>
          <p:nvPr/>
        </p:nvSpPr>
        <p:spPr>
          <a:xfrm>
            <a:off x="771787" y="1094763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all tests are passed:</a:t>
            </a:r>
          </a:p>
        </p:txBody>
      </p:sp>
    </p:spTree>
    <p:extLst>
      <p:ext uri="{BB962C8B-B14F-4D97-AF65-F5344CB8AC3E}">
        <p14:creationId xmlns:p14="http://schemas.microsoft.com/office/powerpoint/2010/main" val="4213296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FF03D-FFF0-27B6-F89E-E551EE05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0" y="1667438"/>
            <a:ext cx="5318620" cy="4613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3D336F-5799-F071-0EFE-2C020A86C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178" y="1667438"/>
            <a:ext cx="6596542" cy="4488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366A9-C7AF-AE4C-38E6-B31B7E8260BF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for API Automation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0479B-0868-FEBE-6291-4B7A7B40FF20}"/>
              </a:ext>
            </a:extLst>
          </p:cNvPr>
          <p:cNvSpPr txBox="1"/>
          <p:nvPr/>
        </p:nvSpPr>
        <p:spPr>
          <a:xfrm>
            <a:off x="780176" y="1124124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test is failed:</a:t>
            </a:r>
          </a:p>
        </p:txBody>
      </p:sp>
    </p:spTree>
    <p:extLst>
      <p:ext uri="{BB962C8B-B14F-4D97-AF65-F5344CB8AC3E}">
        <p14:creationId xmlns:p14="http://schemas.microsoft.com/office/powerpoint/2010/main" val="290732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B41A-93FB-A48E-25DC-05388ABC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38807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08EE-2E40-E143-041B-D7039203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9" y="1325461"/>
            <a:ext cx="10753725" cy="50082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 Unified Automation Framework delivers enterprise-grade hybrid testing with a scalable Maven multi-module design.</a:t>
            </a:r>
          </a:p>
          <a:p>
            <a:pPr marL="0" indent="0"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Highlights: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Unified UI (Selenium) + API (RestAssured) automation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Modular separation: UIAutomation, APIAutomation, Common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BDD with Cucumber + TestNG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 within the modules.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Advanced reporting: ExtentReports &amp; Allure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Robust API validation via JSON schema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patterns: POM, Builder, Factory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Data-driven: Excel (UI) &amp; POJO (API)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execution with TestContext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logging &amp; error handling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685589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384</TotalTime>
  <Words>1536</Words>
  <Application>Microsoft Office PowerPoint</Application>
  <PresentationFormat>Widescreen</PresentationFormat>
  <Paragraphs>169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Metropolitan</vt:lpstr>
      <vt:lpstr>QAlasers_Precision Unified Automation Framework</vt:lpstr>
      <vt:lpstr>Introduction</vt:lpstr>
      <vt:lpstr>Requirements Analysis</vt:lpstr>
      <vt:lpstr>PowerPoint Presentation</vt:lpstr>
      <vt:lpstr>Objectives</vt:lpstr>
      <vt:lpstr>Test Coverage</vt:lpstr>
      <vt:lpstr>PowerPoint Presentation</vt:lpstr>
      <vt:lpstr>PowerPoint Presentation</vt:lpstr>
      <vt:lpstr>Project Workflow</vt:lpstr>
      <vt:lpstr>Framework Directory Structure</vt:lpstr>
      <vt:lpstr>Tech Stack</vt:lpstr>
      <vt:lpstr>Code Implementation</vt:lpstr>
      <vt:lpstr>PowerPoint Presentation</vt:lpstr>
      <vt:lpstr>Execution Steps</vt:lpstr>
      <vt:lpstr>Execution Reports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sailu bandi</dc:creator>
  <cp:lastModifiedBy>Tanya Andra</cp:lastModifiedBy>
  <cp:revision>46</cp:revision>
  <dcterms:created xsi:type="dcterms:W3CDTF">2026-04-29T13:18:31Z</dcterms:created>
  <dcterms:modified xsi:type="dcterms:W3CDTF">2026-04-29T21:56:34Z</dcterms:modified>
</cp:coreProperties>
</file>